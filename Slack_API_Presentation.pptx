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74175" y="164592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5000"/>
              </a:lnSpc>
            </a:pPr>
            <a:r>
              <a:rPr sz="900" b="1">
                <a:solidFill>
                  <a:srgbClr val="6B7686"/>
                </a:solidFill>
                <a:latin typeface="Inter"/>
              </a:rPr>
              <a:t>SLACK API · GUIDE VISUEL</a:t>
            </a:r>
          </a:p>
        </p:txBody>
      </p:sp>
      <p:sp>
        <p:nvSpPr>
          <p:cNvPr id="4" name="Oval 3"/>
          <p:cNvSpPr/>
          <p:nvPr/>
        </p:nvSpPr>
        <p:spPr>
          <a:xfrm>
            <a:off x="502920" y="384048"/>
            <a:ext cx="109728" cy="109728"/>
          </a:xfrm>
          <a:prstGeom prst="ellipse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31089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6B7686"/>
                </a:solidFill>
                <a:latin typeface="Inter"/>
              </a:rPr>
              <a:t>01 / 06  —  Vue d'ensemble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21792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EF1F6"/>
                </a:solidFill>
                <a:latin typeface="Inter"/>
              </a:rPr>
              <a:t>Une Slack App, deux mondes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07008"/>
            <a:ext cx="1042416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9AA5B4"/>
                </a:solidFill>
                <a:latin typeface="Inter"/>
              </a:rPr>
              <a:t>Tout se configure dans la console Slack API, et tout s'utilise ensuite dans le workspace Slack.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874519"/>
            <a:ext cx="5074920" cy="4023360"/>
          </a:xfrm>
          <a:prstGeom prst="roundRect">
            <a:avLst>
              <a:gd name="adj" fmla="val 6000"/>
            </a:avLst>
          </a:prstGeom>
          <a:solidFill>
            <a:srgbClr val="161B24"/>
          </a:solidFill>
          <a:ln w="12700">
            <a:solidFill>
              <a:srgbClr val="262E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2377439"/>
            <a:ext cx="46177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7C5CFF"/>
                </a:solidFill>
                <a:latin typeface="Inter"/>
              </a:rPr>
              <a:t>A</a:t>
            </a:r>
            <a:r>
              <a:rPr sz="1500" b="1">
                <a:solidFill>
                  <a:srgbClr val="EEF1F6"/>
                </a:solidFill>
                <a:latin typeface="Inter"/>
              </a:rPr>
              <a:t>  Console Slack API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2715767"/>
            <a:ext cx="461772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9AA5B4"/>
                </a:solidFill>
                <a:latin typeface="Inter"/>
              </a:rPr>
              <a:t>api.slack.com/apps — centre de configuration technique.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04088" y="3154679"/>
            <a:ext cx="1439265" cy="310896"/>
          </a:xfrm>
          <a:prstGeom prst="roundRect">
            <a:avLst>
              <a:gd name="adj" fmla="val 50000"/>
            </a:avLst>
          </a:prstGeom>
          <a:solidFill>
            <a:srgbClr val="1B21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0" bIns="0"/>
          <a:lstStyle/>
          <a:p>
            <a:pPr algn="ctr"/>
            <a:r>
              <a:rPr sz="1100" b="1">
                <a:solidFill>
                  <a:srgbClr val="9AA5B4"/>
                </a:solidFill>
                <a:latin typeface="Inter"/>
              </a:rPr>
              <a:t>Création de l'app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253081" y="3154679"/>
            <a:ext cx="614476" cy="310896"/>
          </a:xfrm>
          <a:prstGeom prst="roundRect">
            <a:avLst>
              <a:gd name="adj" fmla="val 50000"/>
            </a:avLst>
          </a:prstGeom>
          <a:solidFill>
            <a:srgbClr val="1B21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0" bIns="0"/>
          <a:lstStyle/>
          <a:p>
            <a:pPr algn="ctr"/>
            <a:r>
              <a:rPr sz="1100" b="1">
                <a:solidFill>
                  <a:srgbClr val="9AA5B4"/>
                </a:solidFill>
                <a:latin typeface="Inter"/>
              </a:rPr>
              <a:t>Scopes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77285" y="3154679"/>
            <a:ext cx="614476" cy="310896"/>
          </a:xfrm>
          <a:prstGeom prst="roundRect">
            <a:avLst>
              <a:gd name="adj" fmla="val 50000"/>
            </a:avLst>
          </a:prstGeom>
          <a:solidFill>
            <a:srgbClr val="1B21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0" bIns="0"/>
          <a:lstStyle/>
          <a:p>
            <a:pPr algn="ctr"/>
            <a:r>
              <a:rPr sz="1100" b="1">
                <a:solidFill>
                  <a:srgbClr val="9AA5B4"/>
                </a:solidFill>
                <a:latin typeface="Inter"/>
              </a:rPr>
              <a:t>Tokens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701489" y="3154679"/>
            <a:ext cx="614476" cy="310896"/>
          </a:xfrm>
          <a:prstGeom prst="roundRect">
            <a:avLst>
              <a:gd name="adj" fmla="val 50000"/>
            </a:avLst>
          </a:prstGeom>
          <a:solidFill>
            <a:srgbClr val="1B21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0" bIns="0"/>
          <a:lstStyle/>
          <a:p>
            <a:pPr algn="ctr"/>
            <a:r>
              <a:rPr sz="1100" b="1">
                <a:solidFill>
                  <a:srgbClr val="9AA5B4"/>
                </a:solidFill>
                <a:latin typeface="Inter"/>
              </a:rPr>
              <a:t>Events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25693" y="3154679"/>
            <a:ext cx="689457" cy="310896"/>
          </a:xfrm>
          <a:prstGeom prst="roundRect">
            <a:avLst>
              <a:gd name="adj" fmla="val 50000"/>
            </a:avLst>
          </a:prstGeom>
          <a:solidFill>
            <a:srgbClr val="1B21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0" bIns="0"/>
          <a:lstStyle/>
          <a:p>
            <a:pPr algn="ctr"/>
            <a:r>
              <a:rPr sz="1100" b="1">
                <a:solidFill>
                  <a:srgbClr val="9AA5B4"/>
                </a:solidFill>
                <a:latin typeface="Inter"/>
              </a:rPr>
              <a:t>Secrets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04088" y="3703319"/>
            <a:ext cx="4672584" cy="1965960"/>
          </a:xfrm>
          <a:prstGeom prst="roundRect">
            <a:avLst>
              <a:gd name="adj" fmla="val 6000"/>
            </a:avLst>
          </a:prstGeom>
          <a:solidFill>
            <a:srgbClr val="11151C"/>
          </a:solidFill>
          <a:ln w="17780">
            <a:solidFill>
              <a:srgbClr val="262E3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/>
            <a:r>
              <a:rPr sz="2200"/>
              <a:t>🖥</a:t>
            </a:r>
          </a:p>
          <a:p>
            <a:pPr algn="ctr">
              <a:spcBef>
                <a:spcPts val="600"/>
              </a:spcBef>
            </a:pPr>
            <a:r>
              <a:rPr sz="1250" b="1">
                <a:solidFill>
                  <a:srgbClr val="9AA5B4"/>
                </a:solidFill>
              </a:rPr>
              <a:t>Dashboard Slack API</a:t>
            </a:r>
          </a:p>
          <a:p>
            <a:pPr algn="ctr">
              <a:spcBef>
                <a:spcPts val="300"/>
              </a:spcBef>
            </a:pPr>
            <a:r>
              <a:rPr sz="1000">
                <a:solidFill>
                  <a:srgbClr val="6B7686"/>
                </a:solidFill>
              </a:rPr>
              <a:t>Vue d'ensemble de l'app (api.slack.com/apps)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005072" y="3794759"/>
            <a:ext cx="1234440" cy="256032"/>
          </a:xfrm>
          <a:prstGeom prst="roundRect">
            <a:avLst>
              <a:gd name="adj" fmla="val 6000"/>
            </a:avLst>
          </a:prstGeom>
          <a:solidFill>
            <a:srgbClr val="000000"/>
          </a:solidFill>
          <a:ln w="9525">
            <a:solidFill>
              <a:srgbClr val="262E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6B7686"/>
                </a:solidFill>
              </a:rPr>
              <a:t>SCREENSHOT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92240" y="1874519"/>
            <a:ext cx="5074920" cy="4023360"/>
          </a:xfrm>
          <a:prstGeom prst="roundRect">
            <a:avLst>
              <a:gd name="adj" fmla="val 6000"/>
            </a:avLst>
          </a:prstGeom>
          <a:solidFill>
            <a:srgbClr val="161B24"/>
          </a:solidFill>
          <a:ln w="12700">
            <a:solidFill>
              <a:srgbClr val="262E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93408" y="2377439"/>
            <a:ext cx="46177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36C5F0"/>
                </a:solidFill>
                <a:latin typeface="Inter"/>
              </a:rPr>
              <a:t>B</a:t>
            </a:r>
            <a:r>
              <a:rPr sz="1500" b="1">
                <a:solidFill>
                  <a:srgbClr val="EEF1F6"/>
                </a:solidFill>
                <a:latin typeface="Inter"/>
              </a:rPr>
              <a:t>  Workspace Slack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93408" y="2715767"/>
            <a:ext cx="461772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9AA5B4"/>
                </a:solidFill>
                <a:latin typeface="Inter"/>
              </a:rPr>
              <a:t>L'app elle-même : le bot vit et agit ici.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93408" y="3154679"/>
            <a:ext cx="1064361" cy="310896"/>
          </a:xfrm>
          <a:prstGeom prst="roundRect">
            <a:avLst>
              <a:gd name="adj" fmla="val 50000"/>
            </a:avLst>
          </a:prstGeom>
          <a:solidFill>
            <a:srgbClr val="1B21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0" bIns="0"/>
          <a:lstStyle/>
          <a:p>
            <a:pPr algn="ctr"/>
            <a:r>
              <a:rPr sz="1100" b="1">
                <a:solidFill>
                  <a:srgbClr val="9AA5B4"/>
                </a:solidFill>
                <a:latin typeface="Inter"/>
              </a:rPr>
              <a:t>Installation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867497" y="3154679"/>
            <a:ext cx="1064361" cy="310896"/>
          </a:xfrm>
          <a:prstGeom prst="roundRect">
            <a:avLst>
              <a:gd name="adj" fmla="val 50000"/>
            </a:avLst>
          </a:prstGeom>
          <a:solidFill>
            <a:srgbClr val="1B21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0" bIns="0"/>
          <a:lstStyle/>
          <a:p>
            <a:pPr algn="ctr"/>
            <a:r>
              <a:rPr sz="1100" b="1">
                <a:solidFill>
                  <a:srgbClr val="9AA5B4"/>
                </a:solidFill>
                <a:latin typeface="Inter"/>
              </a:rPr>
              <a:t>Autorisation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41586" y="3154679"/>
            <a:ext cx="1514246" cy="310896"/>
          </a:xfrm>
          <a:prstGeom prst="roundRect">
            <a:avLst>
              <a:gd name="adj" fmla="val 50000"/>
            </a:avLst>
          </a:prstGeom>
          <a:solidFill>
            <a:srgbClr val="1B21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0" bIns="0"/>
          <a:lstStyle/>
          <a:p>
            <a:pPr algn="ctr"/>
            <a:r>
              <a:rPr sz="1100" b="1">
                <a:solidFill>
                  <a:srgbClr val="9AA5B4"/>
                </a:solidFill>
                <a:latin typeface="Inter"/>
              </a:rPr>
              <a:t>Utilisation du bot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693408" y="3703319"/>
            <a:ext cx="4672584" cy="1965960"/>
          </a:xfrm>
          <a:prstGeom prst="roundRect">
            <a:avLst>
              <a:gd name="adj" fmla="val 6000"/>
            </a:avLst>
          </a:prstGeom>
          <a:solidFill>
            <a:srgbClr val="11151C"/>
          </a:solidFill>
          <a:ln w="17780">
            <a:solidFill>
              <a:srgbClr val="262E3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/>
            <a:r>
              <a:rPr sz="2200"/>
              <a:t>📲</a:t>
            </a:r>
          </a:p>
          <a:p>
            <a:pPr algn="ctr">
              <a:spcBef>
                <a:spcPts val="600"/>
              </a:spcBef>
            </a:pPr>
            <a:r>
              <a:rPr sz="1250" b="1">
                <a:solidFill>
                  <a:srgbClr val="9AA5B4"/>
                </a:solidFill>
              </a:rPr>
              <a:t>Installation / Autorisation</a:t>
            </a:r>
          </a:p>
          <a:p>
            <a:pPr algn="ctr">
              <a:spcBef>
                <a:spcPts val="300"/>
              </a:spcBef>
            </a:pPr>
            <a:r>
              <a:rPr sz="1000">
                <a:solidFill>
                  <a:srgbClr val="6B7686"/>
                </a:solidFill>
              </a:rPr>
              <a:t>Install to Workspace ou écran d'autorisation OAuth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994392" y="3794759"/>
            <a:ext cx="1234440" cy="256032"/>
          </a:xfrm>
          <a:prstGeom prst="roundRect">
            <a:avLst>
              <a:gd name="adj" fmla="val 6000"/>
            </a:avLst>
          </a:prstGeom>
          <a:solidFill>
            <a:srgbClr val="000000"/>
          </a:solidFill>
          <a:ln w="9525">
            <a:solidFill>
              <a:srgbClr val="262E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6B7686"/>
                </a:solidFill>
              </a:rPr>
              <a:t>SCREENSHOT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15000" y="3611879"/>
            <a:ext cx="77724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</a:pPr>
            <a:r>
              <a:rPr sz="2600" b="0">
                <a:solidFill>
                  <a:srgbClr val="36C5F0"/>
                </a:solidFill>
                <a:latin typeface="Inter"/>
              </a:rPr>
              <a:t>⇄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6080760"/>
            <a:ext cx="11155680" cy="548640"/>
          </a:xfrm>
          <a:prstGeom prst="roundRect">
            <a:avLst>
              <a:gd name="adj" fmla="val 6000"/>
            </a:avLst>
          </a:prstGeom>
          <a:solidFill>
            <a:srgbClr val="181B2A"/>
          </a:solidFill>
          <a:ln w="12700">
            <a:solidFill>
              <a:srgbClr val="7C5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91440"/>
          <a:lstStyle/>
          <a:p>
            <a:pPr algn="ctr"/>
            <a:r>
              <a:rPr sz="950" b="1">
                <a:solidFill>
                  <a:srgbClr val="36C5F0"/>
                </a:solidFill>
              </a:rPr>
              <a:t>MESSAGE CENTRAL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EEF1F6"/>
                </a:solidFill>
              </a:rPr>
              <a:t>Configuration dans la console API, usage dans Slack.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74175" y="164592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5000"/>
              </a:lnSpc>
            </a:pPr>
            <a:r>
              <a:rPr sz="900" b="1">
                <a:solidFill>
                  <a:srgbClr val="6B7686"/>
                </a:solidFill>
                <a:latin typeface="Inter"/>
              </a:rPr>
              <a:t>SLACK API · GUIDE VISUEL</a:t>
            </a:r>
          </a:p>
        </p:txBody>
      </p:sp>
      <p:sp>
        <p:nvSpPr>
          <p:cNvPr id="4" name="Oval 3"/>
          <p:cNvSpPr/>
          <p:nvPr/>
        </p:nvSpPr>
        <p:spPr>
          <a:xfrm>
            <a:off x="502920" y="384048"/>
            <a:ext cx="109728" cy="109728"/>
          </a:xfrm>
          <a:prstGeom prst="ellipse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31089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6B7686"/>
                </a:solidFill>
                <a:latin typeface="Inter"/>
              </a:rPr>
              <a:t>02 / 06  —  OAuth &amp; Permissions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21792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EF1F6"/>
                </a:solidFill>
                <a:latin typeface="Inter"/>
              </a:rPr>
              <a:t>Le centre des droits et des tokens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07008"/>
            <a:ext cx="1042416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9AA5B4"/>
                </a:solidFill>
                <a:latin typeface="Inter"/>
              </a:rPr>
              <a:t>Console : Votre App → OAuth &amp; Permissions. C'est ici que se définissent les droits du bot et les tokens.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874519"/>
            <a:ext cx="5760720" cy="3977639"/>
          </a:xfrm>
          <a:prstGeom prst="roundRect">
            <a:avLst>
              <a:gd name="adj" fmla="val 6000"/>
            </a:avLst>
          </a:prstGeom>
          <a:solidFill>
            <a:srgbClr val="161B24"/>
          </a:solidFill>
          <a:ln w="12700">
            <a:solidFill>
              <a:srgbClr val="262E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04088" y="2075687"/>
            <a:ext cx="292608" cy="292608"/>
          </a:xfrm>
          <a:prstGeom prst="roundRect">
            <a:avLst>
              <a:gd name="adj" fmla="val 30000"/>
            </a:avLst>
          </a:prstGeom>
          <a:solidFill>
            <a:srgbClr val="221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>
                <a:solidFill>
                  <a:srgbClr val="7C5CFF"/>
                </a:solidFill>
              </a:rPr>
              <a:t>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" y="2084831"/>
            <a:ext cx="4937760" cy="29260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EEF1F6"/>
                </a:solidFill>
                <a:latin typeface="Inter"/>
              </a:rPr>
              <a:t>OAuth &amp; Permissions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04088" y="2423159"/>
            <a:ext cx="5358384" cy="3200399"/>
          </a:xfrm>
          <a:prstGeom prst="roundRect">
            <a:avLst>
              <a:gd name="adj" fmla="val 6000"/>
            </a:avLst>
          </a:prstGeom>
          <a:solidFill>
            <a:srgbClr val="11151C"/>
          </a:solidFill>
          <a:ln w="17780">
            <a:solidFill>
              <a:srgbClr val="262E3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/>
            <a:r>
              <a:rPr sz="2200"/>
              <a:t>🖼</a:t>
            </a:r>
          </a:p>
          <a:p>
            <a:pPr algn="ctr">
              <a:spcBef>
                <a:spcPts val="600"/>
              </a:spcBef>
            </a:pPr>
            <a:r>
              <a:rPr sz="1250" b="1">
                <a:solidFill>
                  <a:srgbClr val="9AA5B4"/>
                </a:solidFill>
              </a:rPr>
              <a:t>Page OAuth &amp; Permissions</a:t>
            </a:r>
          </a:p>
          <a:p>
            <a:pPr algn="ctr">
              <a:spcBef>
                <a:spcPts val="300"/>
              </a:spcBef>
            </a:pPr>
            <a:r>
              <a:rPr sz="1000">
                <a:solidFill>
                  <a:srgbClr val="6B7686"/>
                </a:solidFill>
              </a:rPr>
              <a:t>Bot Token Scopes, User Token Scopes, Install to Workspace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90872" y="2514599"/>
            <a:ext cx="1234440" cy="256032"/>
          </a:xfrm>
          <a:prstGeom prst="roundRect">
            <a:avLst>
              <a:gd name="adj" fmla="val 6000"/>
            </a:avLst>
          </a:prstGeom>
          <a:solidFill>
            <a:srgbClr val="000000"/>
          </a:solidFill>
          <a:ln w="9525">
            <a:solidFill>
              <a:srgbClr val="262E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6B7686"/>
                </a:solidFill>
              </a:rPr>
              <a:t>SCREENSHOT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46520" y="1874519"/>
            <a:ext cx="5349240" cy="1828800"/>
          </a:xfrm>
          <a:prstGeom prst="roundRect">
            <a:avLst>
              <a:gd name="adj" fmla="val 6000"/>
            </a:avLst>
          </a:prstGeom>
          <a:solidFill>
            <a:srgbClr val="161B24"/>
          </a:solidFill>
          <a:ln w="12700">
            <a:solidFill>
              <a:srgbClr val="262E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647688" y="2075687"/>
            <a:ext cx="292608" cy="292608"/>
          </a:xfrm>
          <a:prstGeom prst="roundRect">
            <a:avLst>
              <a:gd name="adj" fmla="val 30000"/>
            </a:avLst>
          </a:prstGeom>
          <a:solidFill>
            <a:srgbClr val="122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>
                <a:solidFill>
                  <a:srgbClr val="36C5F0"/>
                </a:solidFill>
              </a:rPr>
              <a:t>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31736" y="2084831"/>
            <a:ext cx="4526280" cy="29260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EEF1F6"/>
                </a:solidFill>
                <a:latin typeface="Inter"/>
              </a:rPr>
              <a:t>Ce qu'on configure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47688" y="2587751"/>
            <a:ext cx="4946904" cy="1828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950">
                <a:solidFill>
                  <a:srgbClr val="36C5F0"/>
                </a:solidFill>
              </a:rPr>
              <a:t>●  </a:t>
            </a:r>
            <a:r>
              <a:rPr sz="1150" b="1">
                <a:solidFill>
                  <a:srgbClr val="EEF1F6"/>
                </a:solidFill>
              </a:rPr>
              <a:t>Bot Token Scopes </a:t>
            </a:r>
            <a:r>
              <a:rPr sz="1150">
                <a:solidFill>
                  <a:srgbClr val="9AA5B4"/>
                </a:solidFill>
              </a:rPr>
              <a:t>— droits du bot (ex: chat:write)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950">
                <a:solidFill>
                  <a:srgbClr val="36C5F0"/>
                </a:solidFill>
              </a:rPr>
              <a:t>●  </a:t>
            </a:r>
            <a:r>
              <a:rPr sz="1150" b="1">
                <a:solidFill>
                  <a:srgbClr val="EEF1F6"/>
                </a:solidFill>
              </a:rPr>
              <a:t>User Token Scopes </a:t>
            </a:r>
            <a:r>
              <a:rPr sz="1150">
                <a:solidFill>
                  <a:srgbClr val="9AA5B4"/>
                </a:solidFill>
              </a:rPr>
              <a:t>— droits au nom d'un utilisateur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950">
                <a:solidFill>
                  <a:srgbClr val="36C5F0"/>
                </a:solidFill>
              </a:rPr>
              <a:t>●  </a:t>
            </a:r>
            <a:r>
              <a:rPr sz="1150" b="1">
                <a:solidFill>
                  <a:srgbClr val="EEF1F6"/>
                </a:solidFill>
              </a:rPr>
              <a:t>Install to Workspace </a:t>
            </a:r>
            <a:r>
              <a:rPr sz="1150">
                <a:solidFill>
                  <a:srgbClr val="9AA5B4"/>
                </a:solidFill>
              </a:rPr>
              <a:t>— déclenche l'installation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46520" y="3931919"/>
            <a:ext cx="5349240" cy="1920240"/>
          </a:xfrm>
          <a:prstGeom prst="roundRect">
            <a:avLst>
              <a:gd name="adj" fmla="val 6000"/>
            </a:avLst>
          </a:prstGeom>
          <a:solidFill>
            <a:srgbClr val="161B24"/>
          </a:solidFill>
          <a:ln w="12700">
            <a:solidFill>
              <a:srgbClr val="262E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647688" y="4133087"/>
            <a:ext cx="292608" cy="292608"/>
          </a:xfrm>
          <a:prstGeom prst="roundRect">
            <a:avLst>
              <a:gd name="adj" fmla="val 30000"/>
            </a:avLst>
          </a:prstGeom>
          <a:solidFill>
            <a:srgbClr val="102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>
                <a:solidFill>
                  <a:srgbClr val="2EB67D"/>
                </a:solidFill>
              </a:rPr>
              <a:t>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31736" y="4142231"/>
            <a:ext cx="4526280" cy="29260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EEF1F6"/>
                </a:solidFill>
                <a:latin typeface="Inter"/>
              </a:rPr>
              <a:t>Ce qu'on récupère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47688" y="4645151"/>
            <a:ext cx="4946904" cy="1828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950">
                <a:solidFill>
                  <a:srgbClr val="2EB67D"/>
                </a:solidFill>
              </a:rPr>
              <a:t>●  </a:t>
            </a:r>
            <a:r>
              <a:rPr sz="1150" b="1">
                <a:solidFill>
                  <a:srgbClr val="EEF1F6"/>
                </a:solidFill>
              </a:rPr>
              <a:t>Bot User OAuth Token </a:t>
            </a:r>
            <a:r>
              <a:rPr sz="1150">
                <a:solidFill>
                  <a:srgbClr val="9AA5B4"/>
                </a:solidFill>
              </a:rPr>
              <a:t>— xoxb-...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950">
                <a:solidFill>
                  <a:srgbClr val="2EB67D"/>
                </a:solidFill>
              </a:rPr>
              <a:t>●  </a:t>
            </a:r>
            <a:r>
              <a:rPr sz="1150" b="1">
                <a:solidFill>
                  <a:srgbClr val="EEF1F6"/>
                </a:solidFill>
              </a:rPr>
              <a:t>User Token </a:t>
            </a:r>
            <a:r>
              <a:rPr sz="1150">
                <a:solidFill>
                  <a:srgbClr val="9AA5B4"/>
                </a:solidFill>
              </a:rPr>
              <a:t>— xoxp-...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6080760"/>
            <a:ext cx="5486400" cy="548640"/>
          </a:xfrm>
          <a:prstGeom prst="roundRect">
            <a:avLst>
              <a:gd name="adj" fmla="val 6000"/>
            </a:avLst>
          </a:prstGeom>
          <a:solidFill>
            <a:srgbClr val="181B2A"/>
          </a:solidFill>
          <a:ln w="12700">
            <a:solidFill>
              <a:srgbClr val="7C5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91440"/>
          <a:lstStyle/>
          <a:p>
            <a:pPr algn="ctr"/>
            <a:r>
              <a:rPr sz="950" b="1">
                <a:solidFill>
                  <a:srgbClr val="36C5F0"/>
                </a:solidFill>
              </a:rPr>
              <a:t>À RETENIR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EEF1F6"/>
                </a:solidFill>
              </a:rPr>
              <a:t>Les scopes définissent ce que le token a le droit de faire.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6080760"/>
            <a:ext cx="5486400" cy="548640"/>
          </a:xfrm>
          <a:prstGeom prst="roundRect">
            <a:avLst>
              <a:gd name="adj" fmla="val 6000"/>
            </a:avLst>
          </a:prstGeom>
          <a:solidFill>
            <a:srgbClr val="181B2A"/>
          </a:solidFill>
          <a:ln w="12700">
            <a:solidFill>
              <a:srgbClr val="7C5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91440"/>
          <a:lstStyle/>
          <a:p>
            <a:pPr algn="ctr"/>
            <a:r>
              <a:rPr sz="950" b="1">
                <a:solidFill>
                  <a:srgbClr val="36C5F0"/>
                </a:solidFill>
              </a:rPr>
              <a:t>À RETENIR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EEF1F6"/>
                </a:solidFill>
              </a:rPr>
              <a:t>Le token xoxb- est le token principal du bot.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74175" y="164592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5000"/>
              </a:lnSpc>
            </a:pPr>
            <a:r>
              <a:rPr sz="900" b="1">
                <a:solidFill>
                  <a:srgbClr val="6B7686"/>
                </a:solidFill>
                <a:latin typeface="Inter"/>
              </a:rPr>
              <a:t>SLACK API · GUIDE VISUEL</a:t>
            </a:r>
          </a:p>
        </p:txBody>
      </p:sp>
      <p:sp>
        <p:nvSpPr>
          <p:cNvPr id="4" name="Oval 3"/>
          <p:cNvSpPr/>
          <p:nvPr/>
        </p:nvSpPr>
        <p:spPr>
          <a:xfrm>
            <a:off x="502920" y="384048"/>
            <a:ext cx="109728" cy="109728"/>
          </a:xfrm>
          <a:prstGeom prst="ellipse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31089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6B7686"/>
                </a:solidFill>
                <a:latin typeface="Inter"/>
              </a:rPr>
              <a:t>03 / 06  —  Event Subscriptions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21792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EF1F6"/>
                </a:solidFill>
                <a:latin typeface="Inter"/>
              </a:rPr>
              <a:t>Rendre le bot réactif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07008"/>
            <a:ext cx="1042416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9AA5B4"/>
                </a:solidFill>
                <a:latin typeface="Inter"/>
              </a:rPr>
              <a:t>Console : Votre App → Event Subscriptions. Slack y apprend quoi envoyer, et où l'envoyer.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874519"/>
            <a:ext cx="5349240" cy="2468880"/>
          </a:xfrm>
          <a:prstGeom prst="roundRect">
            <a:avLst>
              <a:gd name="adj" fmla="val 6000"/>
            </a:avLst>
          </a:prstGeom>
          <a:solidFill>
            <a:srgbClr val="161B24"/>
          </a:solidFill>
          <a:ln w="12700">
            <a:solidFill>
              <a:srgbClr val="262E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04088" y="2075687"/>
            <a:ext cx="292608" cy="292608"/>
          </a:xfrm>
          <a:prstGeom prst="roundRect">
            <a:avLst>
              <a:gd name="adj" fmla="val 30000"/>
            </a:avLst>
          </a:prstGeom>
          <a:solidFill>
            <a:srgbClr val="2B24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>
                <a:solidFill>
                  <a:srgbClr val="ECB22E"/>
                </a:solidFill>
              </a:rPr>
              <a:t>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" y="2084831"/>
            <a:ext cx="4526280" cy="29260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EEF1F6"/>
                </a:solidFill>
                <a:latin typeface="Inter"/>
              </a:rPr>
              <a:t>Event Subscriptions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04088" y="2423159"/>
            <a:ext cx="4946904" cy="1783080"/>
          </a:xfrm>
          <a:prstGeom prst="roundRect">
            <a:avLst>
              <a:gd name="adj" fmla="val 6000"/>
            </a:avLst>
          </a:prstGeom>
          <a:solidFill>
            <a:srgbClr val="11151C"/>
          </a:solidFill>
          <a:ln w="17780">
            <a:solidFill>
              <a:srgbClr val="262E3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/>
            <a:r>
              <a:rPr sz="2200"/>
              <a:t>🖼</a:t>
            </a:r>
          </a:p>
          <a:p>
            <a:pPr algn="ctr">
              <a:spcBef>
                <a:spcPts val="600"/>
              </a:spcBef>
            </a:pPr>
            <a:r>
              <a:rPr sz="1250" b="1">
                <a:solidFill>
                  <a:srgbClr val="9AA5B4"/>
                </a:solidFill>
              </a:rPr>
              <a:t>Page Event Subscriptions</a:t>
            </a:r>
          </a:p>
          <a:p>
            <a:pPr algn="ctr">
              <a:spcBef>
                <a:spcPts val="300"/>
              </a:spcBef>
            </a:pPr>
            <a:r>
              <a:rPr sz="1000">
                <a:solidFill>
                  <a:srgbClr val="6B7686"/>
                </a:solidFill>
              </a:rPr>
              <a:t>Enable Events, Request URL, Subscribe to Bot Events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79392" y="2514599"/>
            <a:ext cx="1234440" cy="256032"/>
          </a:xfrm>
          <a:prstGeom prst="roundRect">
            <a:avLst>
              <a:gd name="adj" fmla="val 6000"/>
            </a:avLst>
          </a:prstGeom>
          <a:solidFill>
            <a:srgbClr val="000000"/>
          </a:solidFill>
          <a:ln w="9525">
            <a:solidFill>
              <a:srgbClr val="262E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6B7686"/>
                </a:solidFill>
              </a:rPr>
              <a:t>SCREENSHOT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89320" y="1874519"/>
            <a:ext cx="5760720" cy="1188720"/>
          </a:xfrm>
          <a:prstGeom prst="roundRect">
            <a:avLst>
              <a:gd name="adj" fmla="val 6000"/>
            </a:avLst>
          </a:prstGeom>
          <a:solidFill>
            <a:srgbClr val="161B24"/>
          </a:solidFill>
          <a:ln w="12700">
            <a:solidFill>
              <a:srgbClr val="262E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190488" y="2075687"/>
            <a:ext cx="292608" cy="292608"/>
          </a:xfrm>
          <a:prstGeom prst="roundRect">
            <a:avLst>
              <a:gd name="adj" fmla="val 30000"/>
            </a:avLst>
          </a:prstGeom>
          <a:solidFill>
            <a:srgbClr val="221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>
                <a:solidFill>
                  <a:srgbClr val="7C5CFF"/>
                </a:solidFill>
              </a:rPr>
              <a:t>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74536" y="2084831"/>
            <a:ext cx="4937760" cy="29260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EEF1F6"/>
                </a:solidFill>
                <a:latin typeface="Inter"/>
              </a:rPr>
              <a:t>Ce qu'on configure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90488" y="2587751"/>
            <a:ext cx="5358384" cy="1828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850">
                <a:solidFill>
                  <a:srgbClr val="36C5F0"/>
                </a:solidFill>
              </a:rPr>
              <a:t>●  </a:t>
            </a:r>
            <a:r>
              <a:rPr sz="1050" b="1">
                <a:solidFill>
                  <a:srgbClr val="EEF1F6"/>
                </a:solidFill>
              </a:rPr>
              <a:t>Enable Events </a:t>
            </a:r>
            <a:r>
              <a:rPr sz="1050">
                <a:solidFill>
                  <a:srgbClr val="9AA5B4"/>
                </a:solidFill>
              </a:rPr>
              <a:t>— active la fonctionnalité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850">
                <a:solidFill>
                  <a:srgbClr val="36C5F0"/>
                </a:solidFill>
              </a:rPr>
              <a:t>●  </a:t>
            </a:r>
            <a:r>
              <a:rPr sz="1050" b="1">
                <a:solidFill>
                  <a:srgbClr val="EEF1F6"/>
                </a:solidFill>
              </a:rPr>
              <a:t>Request URL </a:t>
            </a:r>
            <a:r>
              <a:rPr sz="1050">
                <a:solidFill>
                  <a:srgbClr val="9AA5B4"/>
                </a:solidFill>
              </a:rPr>
              <a:t>— endpoint recevant les events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850">
                <a:solidFill>
                  <a:srgbClr val="36C5F0"/>
                </a:solidFill>
              </a:rPr>
              <a:t>●  </a:t>
            </a:r>
            <a:r>
              <a:rPr sz="1050" b="1">
                <a:solidFill>
                  <a:srgbClr val="EEF1F6"/>
                </a:solidFill>
              </a:rPr>
              <a:t>Subscribe to Bot Events </a:t>
            </a:r>
            <a:r>
              <a:rPr sz="1050">
                <a:solidFill>
                  <a:srgbClr val="9AA5B4"/>
                </a:solidFill>
              </a:rPr>
              <a:t>— events écoutés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89320" y="3200399"/>
            <a:ext cx="5760720" cy="1143000"/>
          </a:xfrm>
          <a:prstGeom prst="roundRect">
            <a:avLst>
              <a:gd name="adj" fmla="val 6000"/>
            </a:avLst>
          </a:prstGeom>
          <a:solidFill>
            <a:srgbClr val="161B24"/>
          </a:solidFill>
          <a:ln w="12700">
            <a:solidFill>
              <a:srgbClr val="262E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190488" y="3401567"/>
            <a:ext cx="292608" cy="292608"/>
          </a:xfrm>
          <a:prstGeom prst="roundRect">
            <a:avLst>
              <a:gd name="adj" fmla="val 30000"/>
            </a:avLst>
          </a:prstGeom>
          <a:solidFill>
            <a:srgbClr val="122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>
                <a:solidFill>
                  <a:srgbClr val="36C5F0"/>
                </a:solidFill>
              </a:rPr>
              <a:t>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74536" y="3410711"/>
            <a:ext cx="4937760" cy="29260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EEF1F6"/>
                </a:solidFill>
                <a:latin typeface="Inter"/>
              </a:rPr>
              <a:t>Exemples d'events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90488" y="3913631"/>
            <a:ext cx="1083564" cy="329184"/>
          </a:xfrm>
          <a:prstGeom prst="roundRect">
            <a:avLst>
              <a:gd name="adj" fmla="val 50000"/>
            </a:avLst>
          </a:prstGeom>
          <a:solidFill>
            <a:srgbClr val="1B21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0" bIns="0"/>
          <a:lstStyle/>
          <a:p>
            <a:pPr algn="ctr"/>
            <a:r>
              <a:rPr sz="1100" b="1">
                <a:solidFill>
                  <a:srgbClr val="36C5F0"/>
                </a:solidFill>
                <a:latin typeface="Inter"/>
              </a:rPr>
              <a:t>app_mention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02068" y="3913631"/>
            <a:ext cx="1005840" cy="329184"/>
          </a:xfrm>
          <a:prstGeom prst="roundRect">
            <a:avLst>
              <a:gd name="adj" fmla="val 50000"/>
            </a:avLst>
          </a:prstGeom>
          <a:solidFill>
            <a:srgbClr val="1B21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0" bIns="0"/>
          <a:lstStyle/>
          <a:p>
            <a:pPr algn="ctr"/>
            <a:r>
              <a:rPr sz="1100" b="1">
                <a:solidFill>
                  <a:srgbClr val="36C5F0"/>
                </a:solidFill>
                <a:latin typeface="Inter"/>
              </a:rPr>
              <a:t>message.im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535924" y="3913631"/>
            <a:ext cx="1472184" cy="329184"/>
          </a:xfrm>
          <a:prstGeom prst="roundRect">
            <a:avLst>
              <a:gd name="adj" fmla="val 50000"/>
            </a:avLst>
          </a:prstGeom>
          <a:solidFill>
            <a:srgbClr val="1B21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0" bIns="0"/>
          <a:lstStyle/>
          <a:p>
            <a:pPr algn="ctr"/>
            <a:r>
              <a:rPr sz="1100" b="1">
                <a:solidFill>
                  <a:srgbClr val="36C5F0"/>
                </a:solidFill>
                <a:latin typeface="Inter"/>
              </a:rPr>
              <a:t>message.channels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4572000"/>
            <a:ext cx="11155680" cy="1371600"/>
          </a:xfrm>
          <a:prstGeom prst="roundRect">
            <a:avLst>
              <a:gd name="adj" fmla="val 6000"/>
            </a:avLst>
          </a:prstGeom>
          <a:solidFill>
            <a:srgbClr val="161B24"/>
          </a:solidFill>
          <a:ln w="12700">
            <a:solidFill>
              <a:srgbClr val="262E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04088" y="4773168"/>
            <a:ext cx="292608" cy="292608"/>
          </a:xfrm>
          <a:prstGeom prst="roundRect">
            <a:avLst>
              <a:gd name="adj" fmla="val 30000"/>
            </a:avLst>
          </a:prstGeom>
          <a:solidFill>
            <a:srgbClr val="102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>
                <a:solidFill>
                  <a:srgbClr val="2EB67D"/>
                </a:solidFill>
              </a:rPr>
              <a:t>🧭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8136" y="4782312"/>
            <a:ext cx="10332720" cy="29260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EEF1F6"/>
                </a:solidFill>
                <a:latin typeface="Inter"/>
              </a:rPr>
              <a:t>Schéma du flux</a:t>
            </a:r>
          </a:p>
        </p:txBody>
      </p:sp>
      <p:sp>
        <p:nvSpPr>
          <p:cNvPr id="26" name="Oval 25"/>
          <p:cNvSpPr/>
          <p:nvPr/>
        </p:nvSpPr>
        <p:spPr>
          <a:xfrm>
            <a:off x="1988820" y="5212080"/>
            <a:ext cx="502920" cy="502920"/>
          </a:xfrm>
          <a:prstGeom prst="ellipse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/>
              <a:t>💬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63040" y="5779008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EEF1F6"/>
                </a:solidFill>
                <a:latin typeface="Inter"/>
              </a:rPr>
              <a:t>Slack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63040" y="6053328"/>
            <a:ext cx="155448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sz="900" b="0">
                <a:solidFill>
                  <a:srgbClr val="6B7686"/>
                </a:solidFill>
                <a:latin typeface="Inter"/>
              </a:rPr>
              <a:t>Événement déclenché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017520" y="5257800"/>
            <a:ext cx="22402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0">
                <a:solidFill>
                  <a:srgbClr val="6B7686"/>
                </a:solidFill>
                <a:latin typeface="Inter"/>
              </a:rPr>
              <a:t>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017520" y="5522976"/>
            <a:ext cx="22402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</a:pPr>
            <a:r>
              <a:rPr sz="850" b="1">
                <a:solidFill>
                  <a:srgbClr val="36C5F0"/>
                </a:solidFill>
                <a:latin typeface="Inter"/>
              </a:rPr>
              <a:t>HTTP POST</a:t>
            </a:r>
          </a:p>
        </p:txBody>
      </p:sp>
      <p:sp>
        <p:nvSpPr>
          <p:cNvPr id="31" name="Oval 30"/>
          <p:cNvSpPr/>
          <p:nvPr/>
        </p:nvSpPr>
        <p:spPr>
          <a:xfrm>
            <a:off x="5783580" y="5212080"/>
            <a:ext cx="502920" cy="502920"/>
          </a:xfrm>
          <a:prstGeom prst="ellipse">
            <a:avLst/>
          </a:prstGeom>
          <a:solidFill>
            <a:srgbClr val="ECB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/>
              <a:t>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57800" y="5779008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EEF1F6"/>
                </a:solidFill>
                <a:latin typeface="Inter"/>
              </a:rPr>
              <a:t>Request URL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57800" y="6053328"/>
            <a:ext cx="155448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sz="900" b="0">
                <a:solidFill>
                  <a:srgbClr val="6B7686"/>
                </a:solidFill>
                <a:latin typeface="Inter"/>
              </a:rPr>
              <a:t>Endpoint configuré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12280" y="5257800"/>
            <a:ext cx="22402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0">
                <a:solidFill>
                  <a:srgbClr val="6B7686"/>
                </a:solidFill>
                <a:latin typeface="Inter"/>
              </a:rPr>
              <a:t>➜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12280" y="5522976"/>
            <a:ext cx="22402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</a:pPr>
            <a:r>
              <a:rPr sz="850" b="1">
                <a:solidFill>
                  <a:srgbClr val="36C5F0"/>
                </a:solidFill>
                <a:latin typeface="Inter"/>
              </a:rPr>
              <a:t>Reçu par</a:t>
            </a:r>
          </a:p>
        </p:txBody>
      </p:sp>
      <p:sp>
        <p:nvSpPr>
          <p:cNvPr id="36" name="Oval 35"/>
          <p:cNvSpPr/>
          <p:nvPr/>
        </p:nvSpPr>
        <p:spPr>
          <a:xfrm>
            <a:off x="9578340" y="5212080"/>
            <a:ext cx="502920" cy="502920"/>
          </a:xfrm>
          <a:prstGeom prst="ellipse">
            <a:avLst/>
          </a:prstGeom>
          <a:solidFill>
            <a:srgbClr val="36C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/>
              <a:t>🔁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52560" y="5779008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EEF1F6"/>
                </a:solidFill>
                <a:latin typeface="Inter"/>
              </a:rPr>
              <a:t>Backend / n8n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2560" y="6053328"/>
            <a:ext cx="155448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sz="900" b="0">
                <a:solidFill>
                  <a:srgbClr val="6B7686"/>
                </a:solidFill>
                <a:latin typeface="Inter"/>
              </a:rPr>
              <a:t>Traitement du workflow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02920" y="6172200"/>
            <a:ext cx="5486400" cy="548640"/>
          </a:xfrm>
          <a:prstGeom prst="roundRect">
            <a:avLst>
              <a:gd name="adj" fmla="val 6000"/>
            </a:avLst>
          </a:prstGeom>
          <a:solidFill>
            <a:srgbClr val="181B2A"/>
          </a:solidFill>
          <a:ln w="12700">
            <a:solidFill>
              <a:srgbClr val="7C5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91440"/>
          <a:lstStyle/>
          <a:p>
            <a:pPr algn="ctr"/>
            <a:r>
              <a:rPr sz="950" b="1">
                <a:solidFill>
                  <a:srgbClr val="36C5F0"/>
                </a:solidFill>
              </a:rPr>
              <a:t>À RETENIR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EEF1F6"/>
                </a:solidFill>
              </a:rPr>
              <a:t>Ne donne PAS les droits.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172200" y="6172200"/>
            <a:ext cx="5486400" cy="548640"/>
          </a:xfrm>
          <a:prstGeom prst="roundRect">
            <a:avLst>
              <a:gd name="adj" fmla="val 6000"/>
            </a:avLst>
          </a:prstGeom>
          <a:solidFill>
            <a:srgbClr val="181B2A"/>
          </a:solidFill>
          <a:ln w="12700">
            <a:solidFill>
              <a:srgbClr val="7C5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91440"/>
          <a:lstStyle/>
          <a:p>
            <a:pPr algn="ctr"/>
            <a:r>
              <a:rPr sz="950" b="1">
                <a:solidFill>
                  <a:srgbClr val="36C5F0"/>
                </a:solidFill>
              </a:rPr>
              <a:t>À RETENIR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EEF1F6"/>
                </a:solidFill>
              </a:rPr>
              <a:t>Dit ce que Slack ENVOIE à l'app.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74175" y="164592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5000"/>
              </a:lnSpc>
            </a:pPr>
            <a:r>
              <a:rPr sz="900" b="1">
                <a:solidFill>
                  <a:srgbClr val="6B7686"/>
                </a:solidFill>
                <a:latin typeface="Inter"/>
              </a:rPr>
              <a:t>SLACK API · GUIDE VISUEL</a:t>
            </a:r>
          </a:p>
        </p:txBody>
      </p:sp>
      <p:sp>
        <p:nvSpPr>
          <p:cNvPr id="4" name="Oval 3"/>
          <p:cNvSpPr/>
          <p:nvPr/>
        </p:nvSpPr>
        <p:spPr>
          <a:xfrm>
            <a:off x="502920" y="384048"/>
            <a:ext cx="109728" cy="109728"/>
          </a:xfrm>
          <a:prstGeom prst="ellipse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31089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6B7686"/>
                </a:solidFill>
                <a:latin typeface="Inter"/>
              </a:rPr>
              <a:t>04 / 06  —  Alignement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21792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EF1F6"/>
                </a:solidFill>
                <a:latin typeface="Inter"/>
              </a:rPr>
              <a:t>Events + Scopes = comportement réel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07008"/>
            <a:ext cx="1042416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9AA5B4"/>
                </a:solidFill>
                <a:latin typeface="Inter"/>
              </a:rPr>
              <a:t>Le bot ne fonctionne que si les events souscrits et les scopes accordés sont alignés.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874519"/>
          <a:ext cx="1115568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360"/>
                <a:gridCol w="2468880"/>
                <a:gridCol w="4663440"/>
              </a:tblGrid>
              <a:tr h="77724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6B7686"/>
                          </a:solidFill>
                        </a:rPr>
                        <a:t>COMPORTEMENT SOUHAITÉ</a:t>
                      </a:r>
                    </a:p>
                  </a:txBody>
                  <a:tcPr marL="109728" marT="73152" marB="73152">
                    <a:solidFill>
                      <a:srgbClr val="0C0F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6B7686"/>
                          </a:solidFill>
                        </a:rPr>
                        <a:t>EVENT À SOUSCRIRE</a:t>
                      </a:r>
                    </a:p>
                  </a:txBody>
                  <a:tcPr marL="109728" marT="73152" marB="73152">
                    <a:solidFill>
                      <a:srgbClr val="0C0F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6B7686"/>
                          </a:solidFill>
                        </a:rPr>
                        <a:t>SCOPE(S) NÉCESSAIRE(S)</a:t>
                      </a:r>
                    </a:p>
                  </a:txBody>
                  <a:tcPr marL="109728" marT="73152" marB="73152">
                    <a:solidFill>
                      <a:srgbClr val="0C0F14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EEF1F6"/>
                          </a:solidFill>
                        </a:rPr>
                        <a:t>🔔 Réagir à une mention</a:t>
                      </a:r>
                    </a:p>
                    <a:p>
                      <a:pPr>
                        <a:spcBef>
                          <a:spcPts val="200"/>
                        </a:spcBef>
                      </a:pPr>
                      <a:r>
                        <a:rPr sz="950">
                          <a:solidFill>
                            <a:srgbClr val="6B7686"/>
                          </a:solidFill>
                        </a:rPr>
                        <a:t>le bot répond quand on le tag</a:t>
                      </a:r>
                    </a:p>
                  </a:txBody>
                  <a:tcPr marL="137160" marT="91440">
                    <a:solidFill>
                      <a:srgbClr val="1B21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36C5F0"/>
                          </a:solidFill>
                          <a:latin typeface="Consolas"/>
                        </a:rPr>
                        <a:t>app_mention</a:t>
                      </a:r>
                    </a:p>
                  </a:txBody>
                  <a:tcPr marL="137160" anchor="ctr">
                    <a:solidFill>
                      <a:srgbClr val="1B212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9AA5B4"/>
                          </a:solidFill>
                          <a:latin typeface="Consolas"/>
                        </a:rPr>
                        <a:t>app_mentions:read  +  chat:write</a:t>
                      </a:r>
                    </a:p>
                  </a:txBody>
                  <a:tcPr marL="137160" anchor="ctr">
                    <a:solidFill>
                      <a:srgbClr val="1B212C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EEF1F6"/>
                          </a:solidFill>
                        </a:rPr>
                        <a:t>✉ Répondre en message privé</a:t>
                      </a:r>
                    </a:p>
                    <a:p>
                      <a:pPr>
                        <a:spcBef>
                          <a:spcPts val="200"/>
                        </a:spcBef>
                      </a:pPr>
                      <a:r>
                        <a:rPr sz="950">
                          <a:solidFill>
                            <a:srgbClr val="6B7686"/>
                          </a:solidFill>
                        </a:rPr>
                        <a:t>conversation en DM avec le bot</a:t>
                      </a:r>
                    </a:p>
                  </a:txBody>
                  <a:tcPr marL="137160" marT="91440">
                    <a:solidFill>
                      <a:srgbClr val="1B21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36C5F0"/>
                          </a:solidFill>
                          <a:latin typeface="Consolas"/>
                        </a:rPr>
                        <a:t>message.im</a:t>
                      </a:r>
                    </a:p>
                  </a:txBody>
                  <a:tcPr marL="137160" anchor="ctr">
                    <a:solidFill>
                      <a:srgbClr val="1B212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9AA5B4"/>
                          </a:solidFill>
                          <a:latin typeface="Consolas"/>
                        </a:rPr>
                        <a:t>im:history, chat:write</a:t>
                      </a:r>
                    </a:p>
                  </a:txBody>
                  <a:tcPr marL="137160" anchor="ctr">
                    <a:solidFill>
                      <a:srgbClr val="1B212C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EEF1F6"/>
                          </a:solidFill>
                        </a:rPr>
                        <a:t>📖 Lire les messages d'un canal</a:t>
                      </a:r>
                    </a:p>
                    <a:p>
                      <a:pPr>
                        <a:spcBef>
                          <a:spcPts val="200"/>
                        </a:spcBef>
                      </a:pPr>
                      <a:r>
                        <a:rPr sz="950">
                          <a:solidFill>
                            <a:srgbClr val="6B7686"/>
                          </a:solidFill>
                        </a:rPr>
                        <a:t>écoute passive d'un channel</a:t>
                      </a:r>
                    </a:p>
                  </a:txBody>
                  <a:tcPr marL="137160" marT="91440">
                    <a:solidFill>
                      <a:srgbClr val="1B21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36C5F0"/>
                          </a:solidFill>
                          <a:latin typeface="Consolas"/>
                        </a:rPr>
                        <a:t>message.channels</a:t>
                      </a:r>
                    </a:p>
                  </a:txBody>
                  <a:tcPr marL="137160" anchor="ctr">
                    <a:solidFill>
                      <a:srgbClr val="1B212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9AA5B4"/>
                          </a:solidFill>
                          <a:latin typeface="Consolas"/>
                        </a:rPr>
                        <a:t>channels:history</a:t>
                      </a:r>
                    </a:p>
                  </a:txBody>
                  <a:tcPr marL="137160" anchor="ctr">
                    <a:solidFill>
                      <a:srgbClr val="1B212C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02920" y="5257800"/>
            <a:ext cx="5486400" cy="548640"/>
          </a:xfrm>
          <a:prstGeom prst="roundRect">
            <a:avLst>
              <a:gd name="adj" fmla="val 6000"/>
            </a:avLst>
          </a:prstGeom>
          <a:solidFill>
            <a:srgbClr val="181B2A"/>
          </a:solidFill>
          <a:ln w="12700">
            <a:solidFill>
              <a:srgbClr val="7C5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91440"/>
          <a:lstStyle/>
          <a:p>
            <a:pPr algn="ctr"/>
            <a:r>
              <a:rPr sz="950" b="1">
                <a:solidFill>
                  <a:srgbClr val="36C5F0"/>
                </a:solidFill>
              </a:rPr>
              <a:t>SCOPES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EEF1F6"/>
                </a:solidFill>
              </a:rPr>
              <a:t>= droits accordés au token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5257800"/>
            <a:ext cx="5486400" cy="548640"/>
          </a:xfrm>
          <a:prstGeom prst="roundRect">
            <a:avLst>
              <a:gd name="adj" fmla="val 6000"/>
            </a:avLst>
          </a:prstGeom>
          <a:solidFill>
            <a:srgbClr val="181B2A"/>
          </a:solidFill>
          <a:ln w="12700">
            <a:solidFill>
              <a:srgbClr val="7C5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91440"/>
          <a:lstStyle/>
          <a:p>
            <a:pPr algn="ctr"/>
            <a:r>
              <a:rPr sz="950" b="1">
                <a:solidFill>
                  <a:srgbClr val="36C5F0"/>
                </a:solidFill>
              </a:rPr>
              <a:t>EVENTS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EEF1F6"/>
                </a:solidFill>
              </a:rPr>
              <a:t>= déclencheurs entrants envoyés par Slack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5989320"/>
            <a:ext cx="11155680" cy="640080"/>
          </a:xfrm>
          <a:prstGeom prst="roundRect">
            <a:avLst>
              <a:gd name="adj" fmla="val 6000"/>
            </a:avLst>
          </a:prstGeom>
          <a:solidFill>
            <a:srgbClr val="11151C"/>
          </a:solidFill>
          <a:ln w="17780">
            <a:solidFill>
              <a:srgbClr val="262E3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/>
            <a:r>
              <a:rPr sz="2200"/>
              <a:t>🗂</a:t>
            </a:r>
          </a:p>
          <a:p>
            <a:pPr algn="ctr">
              <a:spcBef>
                <a:spcPts val="600"/>
              </a:spcBef>
            </a:pPr>
            <a:r>
              <a:rPr sz="1250" b="1">
                <a:solidFill>
                  <a:srgbClr val="9AA5B4"/>
                </a:solidFill>
              </a:rPr>
              <a:t>Liste d'events configurés (optionnel)</a:t>
            </a:r>
          </a:p>
          <a:p>
            <a:pPr algn="ctr">
              <a:spcBef>
                <a:spcPts val="300"/>
              </a:spcBef>
            </a:pPr>
            <a:r>
              <a:rPr sz="1000">
                <a:solidFill>
                  <a:srgbClr val="6B7686"/>
                </a:solidFill>
              </a:rPr>
              <a:t>Capture de la liste des Bot Events souscrits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287000" y="6080760"/>
            <a:ext cx="1234440" cy="256032"/>
          </a:xfrm>
          <a:prstGeom prst="roundRect">
            <a:avLst>
              <a:gd name="adj" fmla="val 6000"/>
            </a:avLst>
          </a:prstGeom>
          <a:solidFill>
            <a:srgbClr val="000000"/>
          </a:solidFill>
          <a:ln w="9525">
            <a:solidFill>
              <a:srgbClr val="262E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6B7686"/>
                </a:solidFill>
              </a:rPr>
              <a:t>SCREENSHOT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74175" y="164592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5000"/>
              </a:lnSpc>
            </a:pPr>
            <a:r>
              <a:rPr sz="900" b="1">
                <a:solidFill>
                  <a:srgbClr val="6B7686"/>
                </a:solidFill>
                <a:latin typeface="Inter"/>
              </a:rPr>
              <a:t>SLACK API · GUIDE VISUEL</a:t>
            </a:r>
          </a:p>
        </p:txBody>
      </p:sp>
      <p:sp>
        <p:nvSpPr>
          <p:cNvPr id="4" name="Oval 3"/>
          <p:cNvSpPr/>
          <p:nvPr/>
        </p:nvSpPr>
        <p:spPr>
          <a:xfrm>
            <a:off x="502920" y="384048"/>
            <a:ext cx="109728" cy="109728"/>
          </a:xfrm>
          <a:prstGeom prst="ellipse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31089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6B7686"/>
                </a:solidFill>
                <a:latin typeface="Inter"/>
              </a:rPr>
              <a:t>05 / 06  —  Signing Secret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21792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EF1F6"/>
                </a:solidFill>
                <a:latin typeface="Inter"/>
              </a:rPr>
              <a:t>Vérifier que Slack est bien Slack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07008"/>
            <a:ext cx="1042416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9AA5B4"/>
                </a:solidFill>
                <a:latin typeface="Inter"/>
              </a:rPr>
              <a:t>Console : Basic Information → App Credentials → Signing Secret. Ce n'est pas un token d'accès.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874519"/>
            <a:ext cx="5349240" cy="2468880"/>
          </a:xfrm>
          <a:prstGeom prst="roundRect">
            <a:avLst>
              <a:gd name="adj" fmla="val 6000"/>
            </a:avLst>
          </a:prstGeom>
          <a:solidFill>
            <a:srgbClr val="161B24"/>
          </a:solidFill>
          <a:ln w="12700">
            <a:solidFill>
              <a:srgbClr val="262E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04088" y="2075687"/>
            <a:ext cx="292608" cy="292608"/>
          </a:xfrm>
          <a:prstGeom prst="roundRect">
            <a:avLst>
              <a:gd name="adj" fmla="val 30000"/>
            </a:avLst>
          </a:prstGeom>
          <a:solidFill>
            <a:srgbClr val="321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>
                <a:solidFill>
                  <a:srgbClr val="E01E5A"/>
                </a:solidFill>
              </a:rPr>
              <a:t>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" y="2084831"/>
            <a:ext cx="4526280" cy="29260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EEF1F6"/>
                </a:solidFill>
                <a:latin typeface="Inter"/>
              </a:rPr>
              <a:t>Basic Information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04088" y="2423159"/>
            <a:ext cx="4946904" cy="1783080"/>
          </a:xfrm>
          <a:prstGeom prst="roundRect">
            <a:avLst>
              <a:gd name="adj" fmla="val 6000"/>
            </a:avLst>
          </a:prstGeom>
          <a:solidFill>
            <a:srgbClr val="11151C"/>
          </a:solidFill>
          <a:ln w="17780">
            <a:solidFill>
              <a:srgbClr val="262E3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/>
            <a:r>
              <a:rPr sz="2200"/>
              <a:t>🖼</a:t>
            </a:r>
          </a:p>
          <a:p>
            <a:pPr algn="ctr">
              <a:spcBef>
                <a:spcPts val="600"/>
              </a:spcBef>
            </a:pPr>
            <a:r>
              <a:rPr sz="1250" b="1">
                <a:solidFill>
                  <a:srgbClr val="9AA5B4"/>
                </a:solidFill>
              </a:rPr>
              <a:t>App Credentials</a:t>
            </a:r>
          </a:p>
          <a:p>
            <a:pPr algn="ctr">
              <a:spcBef>
                <a:spcPts val="300"/>
              </a:spcBef>
            </a:pPr>
            <a:r>
              <a:rPr sz="1000">
                <a:solidFill>
                  <a:srgbClr val="6B7686"/>
                </a:solidFill>
              </a:rPr>
              <a:t>Section App Credentials avec le Signing Secret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79392" y="2514599"/>
            <a:ext cx="1234440" cy="256032"/>
          </a:xfrm>
          <a:prstGeom prst="roundRect">
            <a:avLst>
              <a:gd name="adj" fmla="val 6000"/>
            </a:avLst>
          </a:prstGeom>
          <a:solidFill>
            <a:srgbClr val="000000"/>
          </a:solidFill>
          <a:ln w="9525">
            <a:solidFill>
              <a:srgbClr val="262E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6B7686"/>
                </a:solidFill>
              </a:rPr>
              <a:t>SCREENSHOT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89320" y="1874519"/>
            <a:ext cx="5760720" cy="1188720"/>
          </a:xfrm>
          <a:prstGeom prst="roundRect">
            <a:avLst>
              <a:gd name="adj" fmla="val 6000"/>
            </a:avLst>
          </a:prstGeom>
          <a:solidFill>
            <a:srgbClr val="161B24"/>
          </a:solidFill>
          <a:ln w="12700">
            <a:solidFill>
              <a:srgbClr val="262E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190488" y="2075687"/>
            <a:ext cx="292608" cy="292608"/>
          </a:xfrm>
          <a:prstGeom prst="roundRect">
            <a:avLst>
              <a:gd name="adj" fmla="val 30000"/>
            </a:avLst>
          </a:prstGeom>
          <a:solidFill>
            <a:srgbClr val="321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>
                <a:solidFill>
                  <a:srgbClr val="E01E5A"/>
                </a:solidFill>
              </a:rPr>
              <a:t>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74536" y="2084831"/>
            <a:ext cx="4937760" cy="29260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EEF1F6"/>
                </a:solidFill>
                <a:latin typeface="Inter"/>
              </a:rPr>
              <a:t>Où le trouver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90488" y="2587751"/>
            <a:ext cx="5358384" cy="1828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950">
                <a:solidFill>
                  <a:srgbClr val="E01E5A"/>
                </a:solidFill>
              </a:rPr>
              <a:t>●  </a:t>
            </a:r>
            <a:r>
              <a:rPr sz="1150">
                <a:solidFill>
                  <a:srgbClr val="9AA5B4"/>
                </a:solidFill>
              </a:rPr>
              <a:t>Basic Information &gt; App Credentials &gt; Signing Secret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89320" y="3200399"/>
            <a:ext cx="5760720" cy="1143000"/>
          </a:xfrm>
          <a:prstGeom prst="roundRect">
            <a:avLst>
              <a:gd name="adj" fmla="val 6000"/>
            </a:avLst>
          </a:prstGeom>
          <a:solidFill>
            <a:srgbClr val="161B24"/>
          </a:solidFill>
          <a:ln w="12700">
            <a:solidFill>
              <a:srgbClr val="262E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190488" y="3401567"/>
            <a:ext cx="292608" cy="292608"/>
          </a:xfrm>
          <a:prstGeom prst="roundRect">
            <a:avLst>
              <a:gd name="adj" fmla="val 30000"/>
            </a:avLst>
          </a:prstGeom>
          <a:solidFill>
            <a:srgbClr val="321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>
                <a:solidFill>
                  <a:srgbClr val="E01E5A"/>
                </a:solidFill>
              </a:rPr>
              <a:t>🎯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74536" y="3410711"/>
            <a:ext cx="4937760" cy="29260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EEF1F6"/>
                </a:solidFill>
                <a:latin typeface="Inter"/>
              </a:rPr>
              <a:t>À quoi il sert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90488" y="3703319"/>
            <a:ext cx="5358384" cy="1828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850">
                <a:solidFill>
                  <a:srgbClr val="E01E5A"/>
                </a:solidFill>
              </a:rPr>
              <a:t>●  </a:t>
            </a:r>
            <a:r>
              <a:rPr sz="1050">
                <a:solidFill>
                  <a:srgbClr val="9AA5B4"/>
                </a:solidFill>
              </a:rPr>
              <a:t>Vérifier que la requête vient bien de Slack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850">
                <a:solidFill>
                  <a:srgbClr val="E01E5A"/>
                </a:solidFill>
              </a:rPr>
              <a:t>●  </a:t>
            </a:r>
            <a:r>
              <a:rPr sz="1050">
                <a:solidFill>
                  <a:srgbClr val="9AA5B4"/>
                </a:solidFill>
              </a:rPr>
              <a:t>Sécuriser les appels entrants vers la Request URL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4572000"/>
            <a:ext cx="11155680" cy="1371600"/>
          </a:xfrm>
          <a:prstGeom prst="roundRect">
            <a:avLst>
              <a:gd name="adj" fmla="val 6000"/>
            </a:avLst>
          </a:prstGeom>
          <a:solidFill>
            <a:srgbClr val="161B24"/>
          </a:solidFill>
          <a:ln w="12700">
            <a:solidFill>
              <a:srgbClr val="262E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04088" y="4773168"/>
            <a:ext cx="292608" cy="292608"/>
          </a:xfrm>
          <a:prstGeom prst="roundRect">
            <a:avLst>
              <a:gd name="adj" fmla="val 30000"/>
            </a:avLst>
          </a:prstGeom>
          <a:solidFill>
            <a:srgbClr val="122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>
                <a:solidFill>
                  <a:srgbClr val="36C5F0"/>
                </a:solidFill>
              </a:rPr>
              <a:t>🧭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8136" y="4782312"/>
            <a:ext cx="10332720" cy="29260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EEF1F6"/>
                </a:solidFill>
                <a:latin typeface="Inter"/>
              </a:rPr>
              <a:t>Mini schéma de vérification</a:t>
            </a:r>
          </a:p>
        </p:txBody>
      </p:sp>
      <p:sp>
        <p:nvSpPr>
          <p:cNvPr id="24" name="Oval 23"/>
          <p:cNvSpPr/>
          <p:nvPr/>
        </p:nvSpPr>
        <p:spPr>
          <a:xfrm>
            <a:off x="1988820" y="5212080"/>
            <a:ext cx="502920" cy="502920"/>
          </a:xfrm>
          <a:prstGeom prst="ellipse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/>
              <a:t>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63040" y="5779008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EEF1F6"/>
                </a:solidFill>
                <a:latin typeface="Inter"/>
              </a:rPr>
              <a:t>Slack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63040" y="6053328"/>
            <a:ext cx="155448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sz="900" b="0">
                <a:solidFill>
                  <a:srgbClr val="6B7686"/>
                </a:solidFill>
                <a:latin typeface="Inter"/>
              </a:rPr>
              <a:t>Envoie une requête signée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17520" y="5257800"/>
            <a:ext cx="22402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0">
                <a:solidFill>
                  <a:srgbClr val="6B7686"/>
                </a:solidFill>
                <a:latin typeface="Inter"/>
              </a:rPr>
              <a:t>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17520" y="5522976"/>
            <a:ext cx="22402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</a:pPr>
            <a:r>
              <a:rPr sz="850" b="1">
                <a:solidFill>
                  <a:srgbClr val="36C5F0"/>
                </a:solidFill>
                <a:latin typeface="Inter"/>
              </a:rPr>
              <a:t>Signature HMAC</a:t>
            </a:r>
          </a:p>
        </p:txBody>
      </p:sp>
      <p:sp>
        <p:nvSpPr>
          <p:cNvPr id="29" name="Oval 28"/>
          <p:cNvSpPr/>
          <p:nvPr/>
        </p:nvSpPr>
        <p:spPr>
          <a:xfrm>
            <a:off x="5783580" y="5212080"/>
            <a:ext cx="502920" cy="502920"/>
          </a:xfrm>
          <a:prstGeom prst="ellipse">
            <a:avLst/>
          </a:prstGeom>
          <a:solidFill>
            <a:srgbClr val="E01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/>
              <a:t>🔍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57800" y="5779008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EEF1F6"/>
                </a:solidFill>
                <a:latin typeface="Inter"/>
              </a:rPr>
              <a:t>Vérification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57800" y="6053328"/>
            <a:ext cx="155448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sz="900" b="0">
                <a:solidFill>
                  <a:srgbClr val="6B7686"/>
                </a:solidFill>
                <a:latin typeface="Inter"/>
              </a:rPr>
              <a:t>Avec le Signing Secret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12280" y="5257800"/>
            <a:ext cx="22402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0">
                <a:solidFill>
                  <a:srgbClr val="6B7686"/>
                </a:solidFill>
                <a:latin typeface="Inter"/>
              </a:rPr>
              <a:t>➜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12280" y="5522976"/>
            <a:ext cx="22402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</a:pPr>
            <a:r>
              <a:rPr sz="850" b="1">
                <a:solidFill>
                  <a:srgbClr val="36C5F0"/>
                </a:solidFill>
                <a:latin typeface="Inter"/>
              </a:rPr>
              <a:t>Si valide</a:t>
            </a:r>
          </a:p>
        </p:txBody>
      </p:sp>
      <p:sp>
        <p:nvSpPr>
          <p:cNvPr id="34" name="Oval 33"/>
          <p:cNvSpPr/>
          <p:nvPr/>
        </p:nvSpPr>
        <p:spPr>
          <a:xfrm>
            <a:off x="9578340" y="5212080"/>
            <a:ext cx="502920" cy="502920"/>
          </a:xfrm>
          <a:prstGeom prst="ellipse">
            <a:avLst/>
          </a:prstGeom>
          <a:solidFill>
            <a:srgbClr val="2EB6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/>
              <a:t>✅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52560" y="5779008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EEF1F6"/>
                </a:solidFill>
                <a:latin typeface="Inter"/>
              </a:rPr>
              <a:t>Requête acceptée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52560" y="6053328"/>
            <a:ext cx="155448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sz="900" b="0">
                <a:solidFill>
                  <a:srgbClr val="6B7686"/>
                </a:solidFill>
                <a:latin typeface="Inter"/>
              </a:rPr>
              <a:t>Traitement autorisé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02920" y="6172200"/>
            <a:ext cx="5486400" cy="548640"/>
          </a:xfrm>
          <a:prstGeom prst="roundRect">
            <a:avLst>
              <a:gd name="adj" fmla="val 6000"/>
            </a:avLst>
          </a:prstGeom>
          <a:solidFill>
            <a:srgbClr val="181B2A"/>
          </a:solidFill>
          <a:ln w="12700">
            <a:solidFill>
              <a:srgbClr val="7C5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91440"/>
          <a:lstStyle/>
          <a:p>
            <a:pPr algn="ctr"/>
            <a:r>
              <a:rPr sz="950" b="1">
                <a:solidFill>
                  <a:srgbClr val="36C5F0"/>
                </a:solidFill>
              </a:rPr>
              <a:t>TOKEN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EEF1F6"/>
                </a:solidFill>
              </a:rPr>
              <a:t>= appeler Slack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72200" y="6172200"/>
            <a:ext cx="5486400" cy="548640"/>
          </a:xfrm>
          <a:prstGeom prst="roundRect">
            <a:avLst>
              <a:gd name="adj" fmla="val 6000"/>
            </a:avLst>
          </a:prstGeom>
          <a:solidFill>
            <a:srgbClr val="181B2A"/>
          </a:solidFill>
          <a:ln w="12700">
            <a:solidFill>
              <a:srgbClr val="7C5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91440"/>
          <a:lstStyle/>
          <a:p>
            <a:pPr algn="ctr"/>
            <a:r>
              <a:rPr sz="950" b="1">
                <a:solidFill>
                  <a:srgbClr val="36C5F0"/>
                </a:solidFill>
              </a:rPr>
              <a:t>SIGNING SECRET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EEF1F6"/>
                </a:solidFill>
              </a:rPr>
              <a:t>= vérifier Slack quand Slack appelle ton système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74175" y="164592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5000"/>
              </a:lnSpc>
            </a:pPr>
            <a:r>
              <a:rPr sz="900" b="1">
                <a:solidFill>
                  <a:srgbClr val="6B7686"/>
                </a:solidFill>
                <a:latin typeface="Inter"/>
              </a:rPr>
              <a:t>SLACK API · GUIDE VISUEL</a:t>
            </a:r>
          </a:p>
        </p:txBody>
      </p:sp>
      <p:sp>
        <p:nvSpPr>
          <p:cNvPr id="4" name="Oval 3"/>
          <p:cNvSpPr/>
          <p:nvPr/>
        </p:nvSpPr>
        <p:spPr>
          <a:xfrm>
            <a:off x="502920" y="384048"/>
            <a:ext cx="109728" cy="109728"/>
          </a:xfrm>
          <a:prstGeom prst="ellipse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31089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6B7686"/>
                </a:solidFill>
                <a:latin typeface="Inter"/>
              </a:rPr>
              <a:t>06 / 06  —  Mapping Slack ↔ n8n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21792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EF1F6"/>
                </a:solidFill>
                <a:latin typeface="Inter"/>
              </a:rPr>
              <a:t>Quoi copier, et où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07008"/>
            <a:ext cx="1042416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9AA5B4"/>
                </a:solidFill>
                <a:latin typeface="Inter"/>
              </a:rPr>
              <a:t>Le pont concret entre la console Slack API et la configuration n8n.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828800"/>
          <a:ext cx="1115568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840480"/>
                <a:gridCol w="3657600"/>
              </a:tblGrid>
              <a:tr h="502920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6B7686"/>
                          </a:solidFill>
                        </a:rPr>
                        <a:t>DEPUIS SLACK API</a:t>
                      </a:r>
                    </a:p>
                  </a:txBody>
                  <a:tcPr marL="109728" marT="54864" marB="54864">
                    <a:solidFill>
                      <a:srgbClr val="0C0F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6B7686"/>
                          </a:solidFill>
                        </a:rPr>
                        <a:t>VERS N8N</a:t>
                      </a:r>
                    </a:p>
                  </a:txBody>
                  <a:tcPr marL="109728" marT="54864" marB="54864">
                    <a:solidFill>
                      <a:srgbClr val="0C0F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6B7686"/>
                          </a:solidFill>
                        </a:rPr>
                        <a:t>REMARQUE</a:t>
                      </a:r>
                    </a:p>
                  </a:txBody>
                  <a:tcPr marL="109728" marT="54864" marB="54864">
                    <a:solidFill>
                      <a:srgbClr val="0C0F14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EEF1F6"/>
                          </a:solidFill>
                        </a:rPr>
                        <a:t>🔑 Bot User OAuth Token</a:t>
                      </a:r>
                    </a:p>
                    <a:p>
                      <a:pPr>
                        <a:spcBef>
                          <a:spcPts val="200"/>
                        </a:spcBef>
                      </a:pPr>
                      <a:r>
                        <a:rPr sz="900">
                          <a:solidFill>
                            <a:srgbClr val="6B7686"/>
                          </a:solidFill>
                        </a:rPr>
                        <a:t>OAuth &amp; Permissions</a:t>
                      </a:r>
                    </a:p>
                  </a:txBody>
                  <a:tcPr marL="137160" marT="73152">
                    <a:solidFill>
                      <a:srgbClr val="1B212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36C5F0"/>
                          </a:solidFill>
                        </a:rPr>
                        <a:t>Champ Access Token du credential Slack</a:t>
                      </a:r>
                    </a:p>
                  </a:txBody>
                  <a:tcPr marL="137160" anchor="ctr">
                    <a:solidFill>
                      <a:srgbClr val="1B212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9AA5B4"/>
                          </a:solidFill>
                        </a:rPr>
                        <a:t>Suffit souvent pour ENVOYER des messages</a:t>
                      </a:r>
                    </a:p>
                  </a:txBody>
                  <a:tcPr marL="137160" anchor="ctr">
                    <a:solidFill>
                      <a:srgbClr val="1B212C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EEF1F6"/>
                          </a:solidFill>
                        </a:rPr>
                        <a:t>🛡 Signing Secret</a:t>
                      </a:r>
                    </a:p>
                    <a:p>
                      <a:pPr>
                        <a:spcBef>
                          <a:spcPts val="200"/>
                        </a:spcBef>
                      </a:pPr>
                      <a:r>
                        <a:rPr sz="900">
                          <a:solidFill>
                            <a:srgbClr val="6B7686"/>
                          </a:solidFill>
                        </a:rPr>
                        <a:t>Basic Information</a:t>
                      </a:r>
                    </a:p>
                  </a:txBody>
                  <a:tcPr marL="137160" marT="73152">
                    <a:solidFill>
                      <a:srgbClr val="1B212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36C5F0"/>
                          </a:solidFill>
                        </a:rPr>
                        <a:t>Champ Signature Secret du Slack Trigger</a:t>
                      </a:r>
                    </a:p>
                  </a:txBody>
                  <a:tcPr marL="137160" anchor="ctr">
                    <a:solidFill>
                      <a:srgbClr val="1B212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9AA5B4"/>
                          </a:solidFill>
                        </a:rPr>
                        <a:t>Nécessaire si trigger / webhook entrant</a:t>
                      </a:r>
                    </a:p>
                  </a:txBody>
                  <a:tcPr marL="137160" anchor="ctr">
                    <a:solidFill>
                      <a:srgbClr val="1B212C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EEF1F6"/>
                          </a:solidFill>
                        </a:rPr>
                        <a:t>🌐 Request URL</a:t>
                      </a:r>
                    </a:p>
                    <a:p>
                      <a:pPr>
                        <a:spcBef>
                          <a:spcPts val="200"/>
                        </a:spcBef>
                      </a:pPr>
                      <a:r>
                        <a:rPr sz="900">
                          <a:solidFill>
                            <a:srgbClr val="6B7686"/>
                          </a:solidFill>
                        </a:rPr>
                        <a:t>Event Subscriptions</a:t>
                      </a:r>
                    </a:p>
                  </a:txBody>
                  <a:tcPr marL="137160" marT="73152">
                    <a:solidFill>
                      <a:srgbClr val="1B212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36C5F0"/>
                          </a:solidFill>
                        </a:rPr>
                        <a:t>URL générée par le Slack Trigger n8n</a:t>
                      </a:r>
                    </a:p>
                  </a:txBody>
                  <a:tcPr marL="137160" anchor="ctr">
                    <a:solidFill>
                      <a:srgbClr val="1B212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9AA5B4"/>
                          </a:solidFill>
                        </a:rPr>
                        <a:t>À coller dans Event Subscriptions</a:t>
                      </a:r>
                    </a:p>
                  </a:txBody>
                  <a:tcPr marL="137160" anchor="ctr">
                    <a:solidFill>
                      <a:srgbClr val="1B212C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02920" y="4069080"/>
            <a:ext cx="5486400" cy="1417320"/>
          </a:xfrm>
          <a:prstGeom prst="roundRect">
            <a:avLst>
              <a:gd name="adj" fmla="val 6000"/>
            </a:avLst>
          </a:prstGeom>
          <a:solidFill>
            <a:srgbClr val="161B24"/>
          </a:solidFill>
          <a:ln w="12700">
            <a:solidFill>
              <a:srgbClr val="262E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04088" y="4270248"/>
            <a:ext cx="292608" cy="292608"/>
          </a:xfrm>
          <a:prstGeom prst="roundRect">
            <a:avLst>
              <a:gd name="adj" fmla="val 30000"/>
            </a:avLst>
          </a:prstGeom>
          <a:solidFill>
            <a:srgbClr val="221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>
                <a:solidFill>
                  <a:srgbClr val="7C5CFF"/>
                </a:solidFill>
              </a:rPr>
              <a:t>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" y="4279392"/>
            <a:ext cx="4663440" cy="29260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EEF1F6"/>
                </a:solidFill>
                <a:latin typeface="Inter"/>
              </a:rPr>
              <a:t>Schéma global</a:t>
            </a:r>
          </a:p>
        </p:txBody>
      </p:sp>
      <p:sp>
        <p:nvSpPr>
          <p:cNvPr id="12" name="Oval 11"/>
          <p:cNvSpPr/>
          <p:nvPr/>
        </p:nvSpPr>
        <p:spPr>
          <a:xfrm>
            <a:off x="1348740" y="4663440"/>
            <a:ext cx="502920" cy="502920"/>
          </a:xfrm>
          <a:prstGeom prst="ellipse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/>
              <a:t>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230368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EEF1F6"/>
                </a:solidFill>
                <a:latin typeface="Inter"/>
              </a:rPr>
              <a:t>Slack API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504688"/>
            <a:ext cx="155448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sz="900" b="0">
                <a:solidFill>
                  <a:srgbClr val="6B7686"/>
                </a:solidFill>
                <a:latin typeface="Inter"/>
              </a:rPr>
              <a:t>Tokens, scopes, secret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77440" y="4709160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0">
                <a:solidFill>
                  <a:srgbClr val="6B7686"/>
                </a:solidFill>
                <a:latin typeface="Inter"/>
              </a:rPr>
              <a:t>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77440" y="4974336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</a:pPr>
            <a:r>
              <a:rPr sz="850" b="1">
                <a:solidFill>
                  <a:srgbClr val="36C5F0"/>
                </a:solidFill>
                <a:latin typeface="Inter"/>
              </a:rPr>
              <a:t>copie</a:t>
            </a:r>
          </a:p>
        </p:txBody>
      </p:sp>
      <p:sp>
        <p:nvSpPr>
          <p:cNvPr id="17" name="Oval 16"/>
          <p:cNvSpPr/>
          <p:nvPr/>
        </p:nvSpPr>
        <p:spPr>
          <a:xfrm>
            <a:off x="4640580" y="4663440"/>
            <a:ext cx="502920" cy="502920"/>
          </a:xfrm>
          <a:prstGeom prst="ellipse">
            <a:avLst/>
          </a:prstGeom>
          <a:solidFill>
            <a:srgbClr val="36C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/>
              <a:t>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5230368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EEF1F6"/>
                </a:solidFill>
                <a:latin typeface="Inter"/>
              </a:rPr>
              <a:t>n8n Creds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5504688"/>
            <a:ext cx="155448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sz="900" b="0">
                <a:solidFill>
                  <a:srgbClr val="6B7686"/>
                </a:solidFill>
                <a:latin typeface="Inter"/>
              </a:rPr>
              <a:t>Slack API credential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44068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</a:p>
        </p:txBody>
      </p:sp>
      <p:sp>
        <p:nvSpPr>
          <p:cNvPr id="21" name="Rounded Rectangle 20"/>
          <p:cNvSpPr/>
          <p:nvPr/>
        </p:nvSpPr>
        <p:spPr>
          <a:xfrm>
            <a:off x="6172200" y="4069080"/>
            <a:ext cx="5486400" cy="1417320"/>
          </a:xfrm>
          <a:prstGeom prst="roundRect">
            <a:avLst>
              <a:gd name="adj" fmla="val 6000"/>
            </a:avLst>
          </a:prstGeom>
          <a:solidFill>
            <a:srgbClr val="161B24"/>
          </a:solidFill>
          <a:ln w="12700">
            <a:solidFill>
              <a:srgbClr val="262E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373368" y="4270248"/>
            <a:ext cx="2468880" cy="1005840"/>
          </a:xfrm>
          <a:prstGeom prst="roundRect">
            <a:avLst>
              <a:gd name="adj" fmla="val 6000"/>
            </a:avLst>
          </a:prstGeom>
          <a:solidFill>
            <a:srgbClr val="11151C"/>
          </a:solidFill>
          <a:ln w="17780">
            <a:solidFill>
              <a:srgbClr val="262E3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/>
            <a:r>
              <a:rPr sz="2200"/>
              <a:t>🗝</a:t>
            </a:r>
          </a:p>
          <a:p>
            <a:pPr algn="ctr">
              <a:spcBef>
                <a:spcPts val="600"/>
              </a:spcBef>
            </a:pPr>
            <a:r>
              <a:rPr sz="1250" b="1">
                <a:solidFill>
                  <a:srgbClr val="9AA5B4"/>
                </a:solidFill>
              </a:rPr>
              <a:t>n8n Credentials</a:t>
            </a:r>
          </a:p>
          <a:p>
            <a:pPr algn="ctr">
              <a:spcBef>
                <a:spcPts val="300"/>
              </a:spcBef>
            </a:pPr>
            <a:r>
              <a:rPr sz="1000">
                <a:solidFill>
                  <a:srgbClr val="6B7686"/>
                </a:solidFill>
              </a:rPr>
              <a:t>Slack API credential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70648" y="4361688"/>
            <a:ext cx="1234440" cy="256032"/>
          </a:xfrm>
          <a:prstGeom prst="roundRect">
            <a:avLst>
              <a:gd name="adj" fmla="val 6000"/>
            </a:avLst>
          </a:prstGeom>
          <a:solidFill>
            <a:srgbClr val="000000"/>
          </a:solidFill>
          <a:ln w="9525">
            <a:solidFill>
              <a:srgbClr val="262E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6B7686"/>
                </a:solidFill>
              </a:rPr>
              <a:t>SCREENSHOT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06840" y="4270248"/>
            <a:ext cx="2468880" cy="1005840"/>
          </a:xfrm>
          <a:prstGeom prst="roundRect">
            <a:avLst>
              <a:gd name="adj" fmla="val 6000"/>
            </a:avLst>
          </a:prstGeom>
          <a:solidFill>
            <a:srgbClr val="11151C"/>
          </a:solidFill>
          <a:ln w="17780">
            <a:solidFill>
              <a:srgbClr val="262E3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/>
            <a:r>
              <a:rPr sz="2200"/>
              <a:t>⚡</a:t>
            </a:r>
          </a:p>
          <a:p>
            <a:pPr algn="ctr">
              <a:spcBef>
                <a:spcPts val="600"/>
              </a:spcBef>
            </a:pPr>
            <a:r>
              <a:rPr sz="1250" b="1">
                <a:solidFill>
                  <a:srgbClr val="9AA5B4"/>
                </a:solidFill>
              </a:rPr>
              <a:t>Slack Trigger</a:t>
            </a:r>
          </a:p>
          <a:p>
            <a:pPr algn="ctr">
              <a:spcBef>
                <a:spcPts val="300"/>
              </a:spcBef>
            </a:pPr>
            <a:r>
              <a:rPr sz="1000">
                <a:solidFill>
                  <a:srgbClr val="6B7686"/>
                </a:solidFill>
              </a:rPr>
              <a:t>Event Subscriptions côté n8n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104120" y="4361688"/>
            <a:ext cx="1234440" cy="256032"/>
          </a:xfrm>
          <a:prstGeom prst="roundRect">
            <a:avLst>
              <a:gd name="adj" fmla="val 6000"/>
            </a:avLst>
          </a:prstGeom>
          <a:solidFill>
            <a:srgbClr val="000000"/>
          </a:solidFill>
          <a:ln w="9525">
            <a:solidFill>
              <a:srgbClr val="262E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6B7686"/>
                </a:solidFill>
              </a:rPr>
              <a:t>SCREENSHOT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5669280"/>
            <a:ext cx="5486400" cy="868680"/>
          </a:xfrm>
          <a:prstGeom prst="roundRect">
            <a:avLst>
              <a:gd name="adj" fmla="val 6000"/>
            </a:avLst>
          </a:prstGeom>
          <a:solidFill>
            <a:srgbClr val="181B2A"/>
          </a:solidFill>
          <a:ln w="12700">
            <a:solidFill>
              <a:srgbClr val="7C5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91440"/>
          <a:lstStyle/>
          <a:p>
            <a:pPr algn="ctr"/>
            <a:r>
              <a:rPr sz="950" b="1">
                <a:solidFill>
                  <a:srgbClr val="36C5F0"/>
                </a:solidFill>
              </a:rPr>
              <a:t>ENVOYER DEPUIS N8N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EEF1F6"/>
                </a:solidFill>
              </a:rPr>
              <a:t>Token + scopes suffisent souvent.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72200" y="5669280"/>
            <a:ext cx="5486400" cy="868680"/>
          </a:xfrm>
          <a:prstGeom prst="roundRect">
            <a:avLst>
              <a:gd name="adj" fmla="val 6000"/>
            </a:avLst>
          </a:prstGeom>
          <a:solidFill>
            <a:srgbClr val="181B2A"/>
          </a:solidFill>
          <a:ln w="12700">
            <a:solidFill>
              <a:srgbClr val="7C5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91440"/>
          <a:lstStyle/>
          <a:p>
            <a:pPr algn="ctr"/>
            <a:r>
              <a:rPr sz="950" b="1">
                <a:solidFill>
                  <a:srgbClr val="36C5F0"/>
                </a:solidFill>
              </a:rPr>
              <a:t>DÉCLENCHER DEPUIS SLACK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EEF1F6"/>
                </a:solidFill>
              </a:rPr>
              <a:t>Il faut aussi Event Subscriptions + idéalement Signing Secret.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